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13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8288000" cy="10287000"/>
  <p:notesSz cx="6858000" cy="9144000"/>
  <p:embeddedFontLst>
    <p:embeddedFont>
      <p:font typeface="Times New Roman Bold" panose="02020803070505020304"/>
      <p:bold r:id="rId20"/>
    </p:embeddedFont>
    <p:embeddedFont>
      <p:font typeface="Open Sans Bold" panose="020B0806030504020204"/>
      <p:bold r:id="rId21"/>
    </p:embeddedFont>
    <p:embeddedFont>
      <p:font typeface="Open Sans" panose="020B0606030504020204"/>
      <p:regular r:id="rId22"/>
    </p:embeddedFont>
    <p:embeddedFont>
      <p:font typeface="ITC Bauhaus Bold" panose="04020805020B02020C02"/>
      <p:bold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10.png"/><Relationship Id="rId4" Type="http://schemas.openxmlformats.org/officeDocument/2006/relationships/image" Target="../media/image4.svg"/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svg"/><Relationship Id="rId3" Type="http://schemas.openxmlformats.org/officeDocument/2006/relationships/image" Target="../media/image10.png"/><Relationship Id="rId2" Type="http://schemas.openxmlformats.org/officeDocument/2006/relationships/image" Target="../media/image4.sv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png"/><Relationship Id="rId3" Type="http://schemas.openxmlformats.org/officeDocument/2006/relationships/oleObject" Target="../embeddings/oleObject1.bin"/><Relationship Id="rId2" Type="http://schemas.openxmlformats.org/officeDocument/2006/relationships/image" Target="../media/image4.sv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10.png"/><Relationship Id="rId4" Type="http://schemas.openxmlformats.org/officeDocument/2006/relationships/image" Target="../media/image4.svg"/><Relationship Id="rId3" Type="http://schemas.openxmlformats.org/officeDocument/2006/relationships/image" Target="../media/image9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10.png"/><Relationship Id="rId4" Type="http://schemas.openxmlformats.org/officeDocument/2006/relationships/image" Target="../media/image4.svg"/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10.png"/><Relationship Id="rId4" Type="http://schemas.openxmlformats.org/officeDocument/2006/relationships/image" Target="../media/image4.svg"/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10.png"/><Relationship Id="rId4" Type="http://schemas.openxmlformats.org/officeDocument/2006/relationships/image" Target="../media/image4.svg"/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6.svg"/><Relationship Id="rId3" Type="http://schemas.openxmlformats.org/officeDocument/2006/relationships/image" Target="../media/image10.png"/><Relationship Id="rId2" Type="http://schemas.openxmlformats.org/officeDocument/2006/relationships/image" Target="../media/image4.sv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10.png"/><Relationship Id="rId4" Type="http://schemas.openxmlformats.org/officeDocument/2006/relationships/image" Target="../media/image4.svg"/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5.png"/><Relationship Id="rId6" Type="http://schemas.openxmlformats.org/officeDocument/2006/relationships/image" Target="../media/image6.svg"/><Relationship Id="rId5" Type="http://schemas.openxmlformats.org/officeDocument/2006/relationships/image" Target="../media/image10.png"/><Relationship Id="rId4" Type="http://schemas.openxmlformats.org/officeDocument/2006/relationships/image" Target="../media/image4.svg"/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6.svg"/><Relationship Id="rId3" Type="http://schemas.openxmlformats.org/officeDocument/2006/relationships/image" Target="../media/image10.png"/><Relationship Id="rId2" Type="http://schemas.openxmlformats.org/officeDocument/2006/relationships/image" Target="../media/image4.sv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svg"/><Relationship Id="rId3" Type="http://schemas.openxmlformats.org/officeDocument/2006/relationships/image" Target="../media/image8.png"/><Relationship Id="rId2" Type="http://schemas.openxmlformats.org/officeDocument/2006/relationships/image" Target="../media/image6.sv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8" name="Freeform 8"/>
          <p:cNvSpPr/>
          <p:nvPr/>
        </p:nvSpPr>
        <p:spPr>
          <a:xfrm rot="-10800000" flipH="1">
            <a:off x="15213844" y="581674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17259300" y="-145966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57200" y="419363"/>
            <a:ext cx="2299546" cy="2084922"/>
          </a:xfrm>
          <a:custGeom>
            <a:avLst/>
            <a:gdLst/>
            <a:ahLst/>
            <a:cxnLst/>
            <a:rect l="l" t="t" r="r" b="b"/>
            <a:pathLst>
              <a:path w="2299546" h="2084922">
                <a:moveTo>
                  <a:pt x="0" y="0"/>
                </a:moveTo>
                <a:lnTo>
                  <a:pt x="2299546" y="0"/>
                </a:lnTo>
                <a:lnTo>
                  <a:pt x="2299546" y="2084922"/>
                </a:lnTo>
                <a:lnTo>
                  <a:pt x="0" y="20849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454024" y="199041"/>
            <a:ext cx="12125920" cy="264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0"/>
              </a:lnSpc>
              <a:spcBef>
                <a:spcPct val="0"/>
              </a:spcBef>
            </a:pPr>
            <a:r>
              <a:rPr lang="en-US" sz="294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  G. NARAYANAMMA INSTITUTE OF TECHNOLOGY &amp; SCIENCE</a:t>
            </a:r>
            <a:endParaRPr lang="en-US" sz="294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4120"/>
              </a:lnSpc>
              <a:spcBef>
                <a:spcPct val="0"/>
              </a:spcBef>
            </a:pPr>
            <a:r>
              <a:rPr lang="en-US" sz="294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                                   AUTONOMOUS             (For Women)</a:t>
            </a:r>
            <a:endParaRPr lang="en-US" sz="294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4120"/>
              </a:lnSpc>
              <a:spcBef>
                <a:spcPct val="0"/>
              </a:spcBef>
            </a:pPr>
            <a:r>
              <a:rPr lang="en-US" sz="294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   Shaikpet, Hyderabad ,Telangana</a:t>
            </a:r>
            <a:endParaRPr lang="en-US" sz="294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4120"/>
              </a:lnSpc>
              <a:spcBef>
                <a:spcPct val="0"/>
              </a:spcBef>
            </a:pPr>
            <a:r>
              <a:rPr lang="en-US" sz="294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            DEPARTMENT OF COMPUTER SCIENCE AND ENGINEERING</a:t>
            </a:r>
            <a:endParaRPr lang="en-US" sz="294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4120"/>
              </a:lnSpc>
              <a:spcBef>
                <a:spcPct val="0"/>
              </a:spcBef>
            </a:pPr>
          </a:p>
        </p:txBody>
      </p:sp>
      <p:sp>
        <p:nvSpPr>
          <p:cNvPr id="14" name="TextBox 14"/>
          <p:cNvSpPr txBox="1"/>
          <p:nvPr/>
        </p:nvSpPr>
        <p:spPr>
          <a:xfrm>
            <a:off x="3784185" y="3347694"/>
            <a:ext cx="10871888" cy="941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50"/>
              </a:lnSpc>
            </a:pPr>
            <a:r>
              <a:rPr lang="en-US" sz="5320">
                <a:solidFill>
                  <a:srgbClr val="F5960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Smart Document Processing System</a:t>
            </a:r>
            <a:endParaRPr lang="en-US" sz="5320">
              <a:solidFill>
                <a:srgbClr val="F5960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710356" y="5076825"/>
            <a:ext cx="2223130" cy="46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5"/>
              </a:lnSpc>
            </a:pPr>
            <a:r>
              <a:rPr lang="en-US" sz="258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Batch </a:t>
            </a:r>
            <a:r>
              <a:rPr lang="en-IN" altLang="en-US" sz="258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No. </a:t>
            </a:r>
            <a:r>
              <a:rPr lang="en-US" sz="2585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</a:t>
            </a:r>
            <a:r>
              <a:rPr lang="en-US" sz="258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D7</a:t>
            </a:r>
            <a:endParaRPr lang="en-US" sz="2585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399252" y="6877642"/>
            <a:ext cx="4888748" cy="2426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5"/>
              </a:lnSpc>
            </a:pPr>
            <a:r>
              <a:rPr lang="en-US" sz="270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Guide:</a:t>
            </a:r>
            <a:endParaRPr lang="en-US" sz="2705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3785"/>
              </a:lnSpc>
            </a:pPr>
            <a:r>
              <a:rPr lang="en-US" sz="2705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Mrs. S. Sandhya</a:t>
            </a:r>
            <a:endParaRPr lang="en-US" sz="2705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3785"/>
              </a:lnSpc>
            </a:pPr>
            <a:r>
              <a:rPr lang="en-US" sz="2705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Assistant Professor, CSE Department.</a:t>
            </a:r>
            <a:endParaRPr lang="en-US" sz="2705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3785"/>
              </a:lnSpc>
              <a:spcBef>
                <a:spcPct val="0"/>
              </a:spcBef>
            </a:pPr>
          </a:p>
        </p:txBody>
      </p:sp>
      <p:sp>
        <p:nvSpPr>
          <p:cNvPr id="17" name="TextBox 17"/>
          <p:cNvSpPr txBox="1"/>
          <p:nvPr/>
        </p:nvSpPr>
        <p:spPr>
          <a:xfrm>
            <a:off x="831778" y="7201034"/>
            <a:ext cx="4677013" cy="2468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275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Presented By:Team Members:</a:t>
            </a:r>
            <a:endParaRPr lang="en-US" sz="275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3850"/>
              </a:lnSpc>
            </a:pPr>
            <a:r>
              <a:rPr lang="en-US" sz="275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1.Soumika-24251A05L1</a:t>
            </a:r>
            <a:endParaRPr lang="en-US" sz="275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3850"/>
              </a:lnSpc>
            </a:pPr>
            <a:r>
              <a:rPr lang="en-US" sz="275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2.S.Pavani-24251A05N8</a:t>
            </a:r>
            <a:endParaRPr lang="en-US" sz="275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3850"/>
              </a:lnSpc>
            </a:pPr>
            <a:r>
              <a:rPr lang="en-US" sz="275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3.Shaik Roshan-24251A05N7</a:t>
            </a:r>
            <a:endParaRPr lang="en-US" sz="275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385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15213844" y="581674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7259300" y="-145966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2532104">
            <a:off x="3044037" y="-5001081"/>
            <a:ext cx="12120557" cy="21021712"/>
            <a:chOff x="0" y="0"/>
            <a:chExt cx="3192245" cy="553658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92245" cy="5536583"/>
            </a:xfrm>
            <a:custGeom>
              <a:avLst/>
              <a:gdLst/>
              <a:ahLst/>
              <a:cxnLst/>
              <a:rect l="l" t="t" r="r" b="b"/>
              <a:pathLst>
                <a:path w="3192245" h="5536583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7" name="Freeform 7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V="1">
            <a:off x="1197330" y="8783752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 flipH="1" flipV="1">
            <a:off x="-2402227" y="7561070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877971" y="849607"/>
            <a:ext cx="11217942" cy="1716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75"/>
              </a:lnSpc>
            </a:pPr>
            <a:r>
              <a:rPr lang="en-US" sz="6970" b="1">
                <a:solidFill>
                  <a:srgbClr val="11121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TABLE OF CONTENTS:</a:t>
            </a:r>
            <a:endParaRPr lang="en-US" sz="6970" b="1">
              <a:solidFill>
                <a:srgbClr val="11121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6775"/>
              </a:lnSpc>
            </a:pPr>
          </a:p>
        </p:txBody>
      </p:sp>
      <p:sp>
        <p:nvSpPr>
          <p:cNvPr id="12" name="TextBox 12"/>
          <p:cNvSpPr txBox="1"/>
          <p:nvPr/>
        </p:nvSpPr>
        <p:spPr>
          <a:xfrm>
            <a:off x="3397441" y="2470490"/>
            <a:ext cx="4850725" cy="6760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0580" lvl="1" indent="-415290" algn="l">
              <a:lnSpc>
                <a:spcPts val="5385"/>
              </a:lnSpc>
              <a:buFont typeface="Arial" panose="020B0604020202020204"/>
              <a:buChar char="•"/>
            </a:pPr>
            <a:r>
              <a:rPr lang="en-US" sz="3845" b="1">
                <a:solidFill>
                  <a:srgbClr val="11121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Introduction </a:t>
            </a:r>
            <a:endParaRPr lang="en-US" sz="3845" b="1">
              <a:solidFill>
                <a:srgbClr val="11121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830580" lvl="1" indent="-415290" algn="l">
              <a:lnSpc>
                <a:spcPts val="5385"/>
              </a:lnSpc>
              <a:buFont typeface="Arial" panose="020B0604020202020204"/>
              <a:buChar char="•"/>
            </a:pPr>
            <a:r>
              <a:rPr lang="en-US" sz="3845" b="1">
                <a:solidFill>
                  <a:srgbClr val="11121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Literature Survey</a:t>
            </a:r>
            <a:endParaRPr lang="en-US" sz="3845" b="1">
              <a:solidFill>
                <a:srgbClr val="11121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830580" lvl="1" indent="-415290" algn="l">
              <a:lnSpc>
                <a:spcPts val="5385"/>
              </a:lnSpc>
              <a:buFont typeface="Arial" panose="020B0604020202020204"/>
              <a:buChar char="•"/>
            </a:pPr>
            <a:r>
              <a:rPr lang="en-US" sz="3845" b="1">
                <a:solidFill>
                  <a:srgbClr val="11121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Existing system</a:t>
            </a:r>
            <a:endParaRPr lang="en-US" sz="3845" b="1">
              <a:solidFill>
                <a:srgbClr val="11121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830580" lvl="1" indent="-415290" algn="l">
              <a:lnSpc>
                <a:spcPts val="5385"/>
              </a:lnSpc>
              <a:buFont typeface="Arial" panose="020B0604020202020204"/>
              <a:buChar char="•"/>
            </a:pPr>
            <a:r>
              <a:rPr lang="en-US" sz="3845" b="1">
                <a:solidFill>
                  <a:srgbClr val="11121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Problem Statement</a:t>
            </a:r>
            <a:endParaRPr lang="en-US" sz="3845" b="1">
              <a:solidFill>
                <a:srgbClr val="11121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830580" lvl="1" indent="-415290" algn="l">
              <a:lnSpc>
                <a:spcPts val="5385"/>
              </a:lnSpc>
              <a:buFont typeface="Arial" panose="020B0604020202020204"/>
              <a:buChar char="•"/>
            </a:pPr>
            <a:r>
              <a:rPr lang="en-US" sz="3845" b="1">
                <a:solidFill>
                  <a:srgbClr val="11121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Proposed system</a:t>
            </a:r>
            <a:endParaRPr lang="en-US" sz="3845" b="1">
              <a:solidFill>
                <a:srgbClr val="11121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830580" lvl="1" indent="-415290" algn="l">
              <a:lnSpc>
                <a:spcPts val="5385"/>
              </a:lnSpc>
              <a:buFont typeface="Arial" panose="020B0604020202020204"/>
              <a:buChar char="•"/>
            </a:pPr>
            <a:r>
              <a:rPr lang="en-US" sz="3845" b="1">
                <a:solidFill>
                  <a:srgbClr val="11121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Objectives</a:t>
            </a:r>
            <a:endParaRPr lang="en-US" sz="3845" b="1">
              <a:solidFill>
                <a:srgbClr val="11121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830580" lvl="1" indent="-415290" algn="l">
              <a:lnSpc>
                <a:spcPts val="5385"/>
              </a:lnSpc>
              <a:buFont typeface="Arial" panose="020B0604020202020204"/>
              <a:buChar char="•"/>
            </a:pPr>
            <a:r>
              <a:rPr lang="en-US" sz="3845" b="1">
                <a:solidFill>
                  <a:srgbClr val="11121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Methodology</a:t>
            </a:r>
            <a:endParaRPr lang="en-US" sz="3845" b="1">
              <a:solidFill>
                <a:srgbClr val="11121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830580" lvl="1" indent="-415290" algn="l">
              <a:lnSpc>
                <a:spcPts val="5385"/>
              </a:lnSpc>
              <a:buFont typeface="Arial" panose="020B0604020202020204"/>
              <a:buChar char="•"/>
            </a:pPr>
            <a:r>
              <a:rPr lang="en-US" sz="3845" b="1">
                <a:solidFill>
                  <a:srgbClr val="11121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Technologies</a:t>
            </a:r>
            <a:endParaRPr lang="en-US" sz="3845" b="1">
              <a:solidFill>
                <a:srgbClr val="11121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830580" lvl="1" indent="-415290" algn="l">
              <a:lnSpc>
                <a:spcPts val="5385"/>
              </a:lnSpc>
              <a:buFont typeface="Arial" panose="020B0604020202020204"/>
              <a:buChar char="•"/>
            </a:pPr>
            <a:r>
              <a:rPr lang="en-US" sz="3845" b="1">
                <a:solidFill>
                  <a:srgbClr val="11121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Results</a:t>
            </a:r>
            <a:endParaRPr lang="en-US" sz="3845" b="1">
              <a:solidFill>
                <a:srgbClr val="11121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538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532104">
            <a:off x="1092920" y="-5288256"/>
            <a:ext cx="15848334" cy="21021712"/>
            <a:chOff x="0" y="0"/>
            <a:chExt cx="4174047" cy="55365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74047" cy="5536583"/>
            </a:xfrm>
            <a:custGeom>
              <a:avLst/>
              <a:gdLst/>
              <a:ahLst/>
              <a:cxnLst/>
              <a:rect l="l" t="t" r="r" b="b"/>
              <a:pathLst>
                <a:path w="4174047" h="5536583">
                  <a:moveTo>
                    <a:pt x="0" y="0"/>
                  </a:moveTo>
                  <a:lnTo>
                    <a:pt x="4174047" y="0"/>
                  </a:lnTo>
                  <a:lnTo>
                    <a:pt x="4174047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74047" cy="557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51763" y="702601"/>
            <a:ext cx="14210427" cy="821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80"/>
              </a:lnSpc>
            </a:pPr>
            <a:r>
              <a:rPr lang="en-US" sz="6975" b="1">
                <a:solidFill>
                  <a:srgbClr val="11121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INTRODUCTION</a:t>
            </a:r>
            <a:endParaRPr lang="en-US" sz="6975" b="1">
              <a:solidFill>
                <a:srgbClr val="11121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92743" y="2239571"/>
            <a:ext cx="16748293" cy="7564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8205" lvl="1" indent="-439420" algn="l">
              <a:lnSpc>
                <a:spcPts val="10170"/>
              </a:lnSpc>
              <a:buFont typeface="Arial" panose="020B0604020202020204"/>
              <a:buChar char="•"/>
            </a:pPr>
            <a:r>
              <a:rPr lang="en-US" sz="4070">
                <a:solidFill>
                  <a:srgbClr val="11121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Large volumes of institutional documents are generated daily.</a:t>
            </a:r>
            <a:endParaRPr lang="en-US" sz="4070">
              <a:solidFill>
                <a:srgbClr val="11121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78205" lvl="1" indent="-439420" algn="l">
              <a:lnSpc>
                <a:spcPts val="10170"/>
              </a:lnSpc>
              <a:buFont typeface="Arial" panose="020B0604020202020204"/>
              <a:buChar char="•"/>
            </a:pPr>
            <a:r>
              <a:rPr lang="en-US" sz="4070">
                <a:solidFill>
                  <a:srgbClr val="11121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Documents are often stored in unstructured formats.</a:t>
            </a:r>
            <a:endParaRPr lang="en-US" sz="4070">
              <a:solidFill>
                <a:srgbClr val="11121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78205" lvl="1" indent="-439420" algn="l">
              <a:lnSpc>
                <a:spcPts val="10170"/>
              </a:lnSpc>
              <a:buFont typeface="Arial" panose="020B0604020202020204"/>
              <a:buChar char="•"/>
            </a:pPr>
            <a:r>
              <a:rPr lang="en-US" sz="4070">
                <a:solidFill>
                  <a:srgbClr val="11121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Manual formatting is time-consuming and error-prone.</a:t>
            </a:r>
            <a:endParaRPr lang="en-US" sz="4070">
              <a:solidFill>
                <a:srgbClr val="11121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78205" lvl="1" indent="-439420" algn="l">
              <a:lnSpc>
                <a:spcPts val="10170"/>
              </a:lnSpc>
              <a:buFont typeface="Arial" panose="020B0604020202020204"/>
              <a:buChar char="•"/>
            </a:pPr>
            <a:r>
              <a:rPr lang="en-US" sz="4070">
                <a:solidFill>
                  <a:srgbClr val="11121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Maintaining consistency across documents is difficult.</a:t>
            </a:r>
            <a:endParaRPr lang="en-US" sz="4070">
              <a:solidFill>
                <a:srgbClr val="11121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78205" lvl="1" indent="-439420" algn="l">
              <a:lnSpc>
                <a:spcPts val="10170"/>
              </a:lnSpc>
              <a:buFont typeface="Arial" panose="020B0604020202020204"/>
              <a:buChar char="•"/>
            </a:pPr>
            <a:r>
              <a:rPr lang="en-US" sz="4070">
                <a:solidFill>
                  <a:srgbClr val="11121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Automated document processing improves efficiency and accuracy</a:t>
            </a:r>
            <a:endParaRPr lang="en-US" sz="4070">
              <a:solidFill>
                <a:srgbClr val="11121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>
              <a:lnSpc>
                <a:spcPts val="3890"/>
              </a:lnSpc>
            </a:pPr>
          </a:p>
          <a:p>
            <a:pPr algn="just">
              <a:lnSpc>
                <a:spcPts val="3890"/>
              </a:lnSpc>
            </a:pPr>
          </a:p>
        </p:txBody>
      </p:sp>
      <p:sp>
        <p:nvSpPr>
          <p:cNvPr id="7" name="Freeform 7"/>
          <p:cNvSpPr/>
          <p:nvPr/>
        </p:nvSpPr>
        <p:spPr>
          <a:xfrm rot="-10800000">
            <a:off x="17259300" y="-145966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 flipH="1" flipV="1">
            <a:off x="-2402227" y="7561070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532104">
            <a:off x="1918511" y="-3775940"/>
            <a:ext cx="16897758" cy="21021712"/>
            <a:chOff x="0" y="0"/>
            <a:chExt cx="4450438" cy="55365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50438" cy="5536583"/>
            </a:xfrm>
            <a:custGeom>
              <a:avLst/>
              <a:gdLst/>
              <a:ahLst/>
              <a:cxnLst/>
              <a:rect l="l" t="t" r="r" b="b"/>
              <a:pathLst>
                <a:path w="4450438" h="5536583">
                  <a:moveTo>
                    <a:pt x="0" y="0"/>
                  </a:moveTo>
                  <a:lnTo>
                    <a:pt x="4450438" y="0"/>
                  </a:lnTo>
                  <a:lnTo>
                    <a:pt x="4450438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50438" cy="557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33838" y="1257047"/>
            <a:ext cx="12794925" cy="503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sz="4275" b="1">
                <a:solidFill>
                  <a:srgbClr val="11121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LITERATURE SURVEY</a:t>
            </a:r>
            <a:endParaRPr lang="en-US" sz="4275" b="1">
              <a:solidFill>
                <a:srgbClr val="11121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6" name="Freeform 6"/>
          <p:cNvSpPr/>
          <p:nvPr/>
        </p:nvSpPr>
        <p:spPr>
          <a:xfrm rot="-10800000">
            <a:off x="17259300" y="-145966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 flipH="1" flipV="1">
            <a:off x="-2402227" y="7561070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8" name="Object 8"/>
          <p:cNvGraphicFramePr/>
          <p:nvPr/>
        </p:nvGraphicFramePr>
        <p:xfrm>
          <a:off x="774109" y="1523742"/>
          <a:ext cx="16230600" cy="6885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Worksheet" r:id="rId3" imgW="19478625" imgH="10134600" progId="Excel.Sheet.12">
                  <p:embed/>
                </p:oleObj>
              </mc:Choice>
              <mc:Fallback>
                <p:oleObj name="Worksheet" r:id="rId3" imgW="19478625" imgH="10134600" progId="Excel.Sheet.12">
                  <p:embed/>
                  <p:pic>
                    <p:nvPicPr>
                      <p:cNvPr id="0" name="Picture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4109" y="1523742"/>
                        <a:ext cx="16230600" cy="68855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39238" y="4623752"/>
            <a:ext cx="9525" cy="915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532104">
            <a:off x="837290" y="-4984353"/>
            <a:ext cx="17244730" cy="21021712"/>
            <a:chOff x="0" y="0"/>
            <a:chExt cx="4541822" cy="55365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1822" cy="5536583"/>
            </a:xfrm>
            <a:custGeom>
              <a:avLst/>
              <a:gdLst/>
              <a:ahLst/>
              <a:cxnLst/>
              <a:rect l="l" t="t" r="r" b="b"/>
              <a:pathLst>
                <a:path w="4541822" h="5536583">
                  <a:moveTo>
                    <a:pt x="0" y="0"/>
                  </a:moveTo>
                  <a:lnTo>
                    <a:pt x="4541822" y="0"/>
                  </a:lnTo>
                  <a:lnTo>
                    <a:pt x="4541822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41822" cy="557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Freeform 5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92212" y="772174"/>
            <a:ext cx="14624524" cy="145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75"/>
              </a:lnSpc>
            </a:pPr>
            <a:r>
              <a:rPr lang="en-US" sz="5970" b="1">
                <a:solidFill>
                  <a:srgbClr val="11121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EXISTING SYSTEM</a:t>
            </a:r>
            <a:endParaRPr lang="en-US" sz="5970" b="1">
              <a:solidFill>
                <a:srgbClr val="11121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5655"/>
              </a:lnSpc>
            </a:pPr>
          </a:p>
        </p:txBody>
      </p:sp>
      <p:sp>
        <p:nvSpPr>
          <p:cNvPr id="7" name="TextBox 7"/>
          <p:cNvSpPr txBox="1"/>
          <p:nvPr/>
        </p:nvSpPr>
        <p:spPr>
          <a:xfrm>
            <a:off x="763847" y="1566579"/>
            <a:ext cx="17160834" cy="542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28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47700" lvl="1" indent="-323850" algn="l">
              <a:lnSpc>
                <a:spcPts val="618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Documents are maintained in formats such as Word and PDF files.</a:t>
            </a:r>
            <a:endParaRPr lang="en-US" sz="30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47700" lvl="1" indent="-323850" algn="l">
              <a:lnSpc>
                <a:spcPts val="618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Document formatting and structuring are performed manually using editing tools and templates.</a:t>
            </a:r>
            <a:endParaRPr lang="en-US" sz="30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47700" lvl="1" indent="-323850" algn="l">
              <a:lnSpc>
                <a:spcPts val="618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Users manually apply headings, numbering, alignment, and formatting styles.</a:t>
            </a:r>
            <a:endParaRPr lang="en-US" sz="30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47700" lvl="1" indent="-323850" algn="l">
              <a:lnSpc>
                <a:spcPts val="618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Repeated modifications are often required to maintain consistency across documents.</a:t>
            </a:r>
            <a:endParaRPr lang="en-US" sz="30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47700" lvl="1" indent="-323850" algn="l">
              <a:lnSpc>
                <a:spcPts val="618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Existing tools support basic formatting but provide limited automation.</a:t>
            </a:r>
            <a:endParaRPr lang="en-US" sz="30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4200"/>
              </a:lnSpc>
            </a:pPr>
          </a:p>
          <a:p>
            <a:pPr algn="just">
              <a:lnSpc>
                <a:spcPts val="3920"/>
              </a:lnSpc>
            </a:pPr>
          </a:p>
        </p:txBody>
      </p:sp>
      <p:sp>
        <p:nvSpPr>
          <p:cNvPr id="8" name="Freeform 8"/>
          <p:cNvSpPr/>
          <p:nvPr/>
        </p:nvSpPr>
        <p:spPr>
          <a:xfrm rot="-10800000">
            <a:off x="17259300" y="-145966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 flipH="1" flipV="1">
            <a:off x="-2402227" y="7561070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92245" cy="5536583"/>
            </a:xfrm>
            <a:custGeom>
              <a:avLst/>
              <a:gdLst/>
              <a:ahLst/>
              <a:cxnLst/>
              <a:rect l="l" t="t" r="r" b="b"/>
              <a:pathLst>
                <a:path w="3192245" h="5536583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04798" y="649017"/>
            <a:ext cx="13964734" cy="826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sz="6900" b="1">
                <a:solidFill>
                  <a:srgbClr val="11121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PROBLEM STATEMENT</a:t>
            </a:r>
            <a:endParaRPr lang="en-US" sz="6900" b="1">
              <a:solidFill>
                <a:srgbClr val="11121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28764" y="1656297"/>
            <a:ext cx="15502880" cy="6616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3910" lvl="1" indent="-401955" algn="just">
              <a:lnSpc>
                <a:spcPts val="8785"/>
              </a:lnSpc>
              <a:buFont typeface="Arial" panose="020B0604020202020204"/>
              <a:buChar char="•"/>
            </a:pPr>
            <a:r>
              <a:rPr lang="en-US" sz="3720">
                <a:solidFill>
                  <a:srgbClr val="11121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Institutional documents exist in multiple formats such as Word, </a:t>
            </a:r>
            <a:endParaRPr lang="en-US" sz="3720">
              <a:solidFill>
                <a:srgbClr val="11121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>
              <a:lnSpc>
                <a:spcPts val="8785"/>
              </a:lnSpc>
            </a:pPr>
            <a:r>
              <a:rPr lang="en-US" sz="3720">
                <a:solidFill>
                  <a:srgbClr val="11121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</a:t>
            </a:r>
            <a:r>
              <a:rPr lang="en-US" sz="3720">
                <a:solidFill>
                  <a:srgbClr val="11121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Excel, and PDF.</a:t>
            </a:r>
            <a:endParaRPr lang="en-US" sz="3720">
              <a:solidFill>
                <a:srgbClr val="11121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03910" lvl="1" indent="-401955" algn="just">
              <a:lnSpc>
                <a:spcPts val="8785"/>
              </a:lnSpc>
              <a:buFont typeface="Arial" panose="020B0604020202020204"/>
              <a:buChar char="•"/>
            </a:pPr>
            <a:r>
              <a:rPr lang="en-US" sz="3720">
                <a:solidFill>
                  <a:srgbClr val="11121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Manual formatting and conversion are time-consuming and error-prone.</a:t>
            </a:r>
            <a:endParaRPr lang="en-US" sz="3720">
              <a:solidFill>
                <a:srgbClr val="11121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03910" lvl="1" indent="-401955" algn="just">
              <a:lnSpc>
                <a:spcPts val="8785"/>
              </a:lnSpc>
              <a:buFont typeface="Arial" panose="020B0604020202020204"/>
              <a:buChar char="•"/>
            </a:pPr>
            <a:r>
              <a:rPr lang="en-US" sz="3720">
                <a:solidFill>
                  <a:srgbClr val="11121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Maintaining consistency across documents is difficult.</a:t>
            </a:r>
            <a:endParaRPr lang="en-US" sz="3720">
              <a:solidFill>
                <a:srgbClr val="11121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26135" lvl="1" indent="-413385" algn="just">
              <a:lnSpc>
                <a:spcPts val="9030"/>
              </a:lnSpc>
              <a:buFont typeface="Arial" panose="020B0604020202020204"/>
              <a:buChar char="•"/>
            </a:pPr>
            <a:r>
              <a:rPr lang="en-US" sz="3825">
                <a:solidFill>
                  <a:srgbClr val="11121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Automated document processing is required to generate standardized outputs efficiently.</a:t>
            </a:r>
            <a:endParaRPr lang="en-US" sz="3825">
              <a:solidFill>
                <a:srgbClr val="11121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7" name="Group 7"/>
          <p:cNvGrpSpPr/>
          <p:nvPr/>
        </p:nvGrpSpPr>
        <p:grpSpPr>
          <a:xfrm rot="-2541810">
            <a:off x="-806570" y="5582059"/>
            <a:ext cx="2574626" cy="8727676"/>
            <a:chOff x="0" y="0"/>
            <a:chExt cx="678091" cy="22986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78091" cy="2298647"/>
            </a:xfrm>
            <a:custGeom>
              <a:avLst/>
              <a:gdLst/>
              <a:ahLst/>
              <a:cxnLst/>
              <a:rect l="l" t="t" r="r" b="b"/>
              <a:pathLst>
                <a:path w="678091" h="2298647">
                  <a:moveTo>
                    <a:pt x="0" y="0"/>
                  </a:moveTo>
                  <a:lnTo>
                    <a:pt x="678091" y="0"/>
                  </a:lnTo>
                  <a:lnTo>
                    <a:pt x="678091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78091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3" name="Freeform 13"/>
          <p:cNvSpPr/>
          <p:nvPr/>
        </p:nvSpPr>
        <p:spPr>
          <a:xfrm rot="-10800000" flipH="1">
            <a:off x="15213844" y="581674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>
            <a:off x="17259300" y="-145966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10800000" flipH="1" flipV="1">
            <a:off x="-2402227" y="7561070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Freeform 5"/>
          <p:cNvSpPr/>
          <p:nvPr/>
        </p:nvSpPr>
        <p:spPr>
          <a:xfrm rot="-10800000" flipH="1">
            <a:off x="15213844" y="581674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17259300" y="-145966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92245" cy="5536583"/>
            </a:xfrm>
            <a:custGeom>
              <a:avLst/>
              <a:gdLst/>
              <a:ahLst/>
              <a:cxnLst/>
              <a:rect l="l" t="t" r="r" b="b"/>
              <a:pathLst>
                <a:path w="3192245" h="5536583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812317" y="841104"/>
            <a:ext cx="13401527" cy="1599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5"/>
              </a:lnSpc>
            </a:pPr>
            <a:r>
              <a:rPr lang="en-US" sz="7295" b="1">
                <a:solidFill>
                  <a:srgbClr val="11121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PROPOSED SYSTEM</a:t>
            </a:r>
            <a:endParaRPr lang="en-US" sz="7295" b="1">
              <a:solidFill>
                <a:srgbClr val="11121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5835"/>
              </a:lnSpc>
            </a:pPr>
          </a:p>
        </p:txBody>
      </p:sp>
      <p:sp>
        <p:nvSpPr>
          <p:cNvPr id="13" name="Freeform 13"/>
          <p:cNvSpPr/>
          <p:nvPr/>
        </p:nvSpPr>
        <p:spPr>
          <a:xfrm rot="-10800000" flipH="1" flipV="1">
            <a:off x="-2402227" y="7561070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78906" y="2078571"/>
            <a:ext cx="16511765" cy="7751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20" lvl="1" indent="-410210" algn="l">
              <a:lnSpc>
                <a:spcPts val="8055"/>
              </a:lnSpc>
              <a:buFont typeface="Arial" panose="020B0604020202020204"/>
              <a:buChar char="•"/>
            </a:pPr>
            <a:r>
              <a:rPr lang="en-US" sz="3800">
                <a:solidFill>
                  <a:srgbClr val="11121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Provides an automated solution for processing and structuring institutional documents.</a:t>
            </a:r>
            <a:endParaRPr lang="en-US" sz="3800">
              <a:solidFill>
                <a:srgbClr val="11121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20420" lvl="1" indent="-410210" algn="l">
              <a:lnSpc>
                <a:spcPts val="8055"/>
              </a:lnSpc>
              <a:buFont typeface="Arial" panose="020B0604020202020204"/>
              <a:buChar char="•"/>
            </a:pPr>
            <a:r>
              <a:rPr lang="en-US" sz="3800">
                <a:solidFill>
                  <a:srgbClr val="11121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</a:t>
            </a:r>
            <a:r>
              <a:rPr lang="en-US" sz="3800">
                <a:solidFill>
                  <a:srgbClr val="11121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ccepts documents in formats such as PDF, Word, and Excel.</a:t>
            </a:r>
            <a:endParaRPr lang="en-US" sz="3800">
              <a:solidFill>
                <a:srgbClr val="11121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20420" lvl="1" indent="-410210" algn="l">
              <a:lnSpc>
                <a:spcPts val="8055"/>
              </a:lnSpc>
              <a:buFont typeface="Arial" panose="020B0604020202020204"/>
              <a:buChar char="•"/>
            </a:pPr>
            <a:r>
              <a:rPr lang="en-US" sz="3800">
                <a:solidFill>
                  <a:srgbClr val="11121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Extracts and organizes information using predefined processing rules.</a:t>
            </a:r>
            <a:endParaRPr lang="en-US" sz="3800">
              <a:solidFill>
                <a:srgbClr val="11121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20420" lvl="1" indent="-410210" algn="l">
              <a:lnSpc>
                <a:spcPts val="8055"/>
              </a:lnSpc>
              <a:buFont typeface="Arial" panose="020B0604020202020204"/>
              <a:buChar char="•"/>
            </a:pPr>
            <a:r>
              <a:rPr lang="en-US" sz="3800">
                <a:solidFill>
                  <a:srgbClr val="11121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Converts documents into standardized formats based on the selected module.</a:t>
            </a:r>
            <a:endParaRPr lang="en-US" sz="3800">
              <a:solidFill>
                <a:srgbClr val="11121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20420" lvl="1" indent="-410210" algn="l">
              <a:lnSpc>
                <a:spcPts val="8055"/>
              </a:lnSpc>
              <a:buFont typeface="Arial" panose="020B0604020202020204"/>
              <a:buChar char="•"/>
            </a:pPr>
            <a:r>
              <a:rPr lang="en-US" sz="3800">
                <a:solidFill>
                  <a:srgbClr val="11121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Generates structured outputs and stores processed data in a database.</a:t>
            </a:r>
            <a:endParaRPr lang="en-US" sz="3800">
              <a:solidFill>
                <a:srgbClr val="11121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20420" lvl="1" indent="-410210" algn="l">
              <a:lnSpc>
                <a:spcPts val="8055"/>
              </a:lnSpc>
              <a:buFont typeface="Arial" panose="020B0604020202020204"/>
              <a:buChar char="•"/>
            </a:pPr>
            <a:r>
              <a:rPr lang="en-US" sz="3800">
                <a:solidFill>
                  <a:srgbClr val="11121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Reduces manual effort, improves consistency, and minimizes errors</a:t>
            </a:r>
            <a:endParaRPr lang="en-US" sz="3800">
              <a:solidFill>
                <a:srgbClr val="11121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lnSpc>
                <a:spcPts val="406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15213844" y="581674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7259300" y="-145966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92245" cy="5536583"/>
            </a:xfrm>
            <a:custGeom>
              <a:avLst/>
              <a:gdLst/>
              <a:ahLst/>
              <a:cxnLst/>
              <a:rect l="l" t="t" r="r" b="b"/>
              <a:pathLst>
                <a:path w="3192245" h="5536583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7" name="Freeform 7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-2402227" y="7561070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97330" y="819799"/>
            <a:ext cx="13262679" cy="904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7500" b="1">
                <a:solidFill>
                  <a:srgbClr val="333652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OBJECTIVES</a:t>
            </a:r>
            <a:endParaRPr lang="en-US" sz="7500" b="1">
              <a:solidFill>
                <a:srgbClr val="333652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97330" y="1794783"/>
            <a:ext cx="15150355" cy="6953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9625" lvl="1" indent="-404495" algn="l">
              <a:lnSpc>
                <a:spcPts val="9370"/>
              </a:lnSpc>
              <a:buFont typeface="Arial" panose="020B0604020202020204"/>
              <a:buChar char="•"/>
            </a:pPr>
            <a:r>
              <a:rPr lang="en-US" sz="375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develop a Smart Document Processing System for institutional documents.</a:t>
            </a:r>
            <a:endParaRPr lang="en-US" sz="3750">
              <a:solidFill>
                <a:srgbClr val="33365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09625" lvl="1" indent="-404495" algn="l">
              <a:lnSpc>
                <a:spcPts val="9370"/>
              </a:lnSpc>
              <a:buFont typeface="Arial" panose="020B0604020202020204"/>
              <a:buChar char="•"/>
            </a:pPr>
            <a:r>
              <a:rPr lang="en-US" sz="375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extract and store relevant document data in a database.</a:t>
            </a:r>
            <a:endParaRPr lang="en-US" sz="3750">
              <a:solidFill>
                <a:srgbClr val="33365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09625" lvl="1" indent="-404495" algn="l">
              <a:lnSpc>
                <a:spcPts val="9370"/>
              </a:lnSpc>
              <a:buFont typeface="Arial" panose="020B0604020202020204"/>
              <a:buChar char="•"/>
            </a:pPr>
            <a:r>
              <a:rPr lang="en-US" sz="375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organize extracted information into a structured format.</a:t>
            </a:r>
            <a:endParaRPr lang="en-US" sz="3750">
              <a:solidFill>
                <a:srgbClr val="33365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09625" lvl="1" indent="-404495" algn="l">
              <a:lnSpc>
                <a:spcPts val="9370"/>
              </a:lnSpc>
              <a:buFont typeface="Arial" panose="020B0604020202020204"/>
              <a:buChar char="•"/>
            </a:pPr>
            <a:r>
              <a:rPr lang="en-US" sz="375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automate the conversion of documents into predefined output formats.</a:t>
            </a:r>
            <a:endParaRPr lang="en-US" sz="3750">
              <a:solidFill>
                <a:srgbClr val="33365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09625" lvl="1" indent="-404495" algn="l">
              <a:lnSpc>
                <a:spcPts val="9370"/>
              </a:lnSpc>
              <a:buFont typeface="Arial" panose="020B0604020202020204"/>
              <a:buChar char="•"/>
            </a:pPr>
            <a:r>
              <a:rPr lang="en-US" sz="375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reduce manual effort and improve processing accuracy.</a:t>
            </a:r>
            <a:endParaRPr lang="en-US" sz="3750">
              <a:solidFill>
                <a:srgbClr val="33365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7259300" y="-145966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2532104">
            <a:off x="1923535" y="-6158539"/>
            <a:ext cx="13318117" cy="21021712"/>
            <a:chOff x="0" y="0"/>
            <a:chExt cx="3507652" cy="553658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07652" cy="5536583"/>
            </a:xfrm>
            <a:custGeom>
              <a:avLst/>
              <a:gdLst/>
              <a:ahLst/>
              <a:cxnLst/>
              <a:rect l="l" t="t" r="r" b="b"/>
              <a:pathLst>
                <a:path w="3507652" h="5536583">
                  <a:moveTo>
                    <a:pt x="0" y="0"/>
                  </a:moveTo>
                  <a:lnTo>
                    <a:pt x="3507652" y="0"/>
                  </a:lnTo>
                  <a:lnTo>
                    <a:pt x="3507652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507652" cy="557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H="1" flipV="1">
            <a:off x="-2402227" y="7561070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325582" y="1892358"/>
            <a:ext cx="11201445" cy="7911021"/>
          </a:xfrm>
          <a:custGeom>
            <a:avLst/>
            <a:gdLst/>
            <a:ahLst/>
            <a:cxnLst/>
            <a:rect l="l" t="t" r="r" b="b"/>
            <a:pathLst>
              <a:path w="11201445" h="7911021">
                <a:moveTo>
                  <a:pt x="0" y="0"/>
                </a:moveTo>
                <a:lnTo>
                  <a:pt x="11201445" y="0"/>
                </a:lnTo>
                <a:lnTo>
                  <a:pt x="11201445" y="7911021"/>
                </a:lnTo>
                <a:lnTo>
                  <a:pt x="0" y="79110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67871" y="1806633"/>
            <a:ext cx="8267158" cy="711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85"/>
              </a:lnSpc>
            </a:pPr>
            <a:r>
              <a:rPr lang="en-US" sz="3420" b="1">
                <a:solidFill>
                  <a:srgbClr val="F5960E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System Layers:</a:t>
            </a:r>
            <a:endParaRPr lang="en-US" sz="3420" b="1">
              <a:solidFill>
                <a:srgbClr val="F5960E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just">
              <a:lnSpc>
                <a:spcPts val="6805"/>
              </a:lnSpc>
            </a:pPr>
            <a:r>
              <a:rPr lang="en-US" sz="332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1.Input </a:t>
            </a:r>
            <a:r>
              <a:rPr lang="en-US" sz="332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Layer</a:t>
            </a:r>
            <a:endParaRPr lang="en-US" sz="3320">
              <a:solidFill>
                <a:srgbClr val="33365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>
              <a:lnSpc>
                <a:spcPts val="6805"/>
              </a:lnSpc>
            </a:pPr>
            <a:r>
              <a:rPr lang="en-US" sz="332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</a:t>
            </a:r>
            <a:r>
              <a:rPr lang="en-US" sz="332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Module Selection Layer</a:t>
            </a:r>
            <a:endParaRPr lang="en-US" sz="3320">
              <a:solidFill>
                <a:srgbClr val="33365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>
              <a:lnSpc>
                <a:spcPts val="6805"/>
              </a:lnSpc>
            </a:pPr>
            <a:r>
              <a:rPr lang="en-US" sz="332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3.Processing Layer</a:t>
            </a:r>
            <a:endParaRPr lang="en-US" sz="3320">
              <a:solidFill>
                <a:srgbClr val="33365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>
              <a:lnSpc>
                <a:spcPts val="6805"/>
              </a:lnSpc>
            </a:pPr>
            <a:r>
              <a:rPr lang="en-US" sz="332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4.Document Processing Layer</a:t>
            </a:r>
            <a:endParaRPr lang="en-US" sz="3320">
              <a:solidFill>
                <a:srgbClr val="33365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>
              <a:lnSpc>
                <a:spcPts val="6805"/>
              </a:lnSpc>
            </a:pPr>
            <a:r>
              <a:rPr lang="en-US" sz="332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5.Preview &amp; Validation Layer</a:t>
            </a:r>
            <a:endParaRPr lang="en-US" sz="3320">
              <a:solidFill>
                <a:srgbClr val="33365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>
              <a:lnSpc>
                <a:spcPts val="6805"/>
              </a:lnSpc>
            </a:pPr>
            <a:r>
              <a:rPr lang="en-US" sz="332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6.Output Layer</a:t>
            </a:r>
            <a:endParaRPr lang="en-US" sz="3320">
              <a:solidFill>
                <a:srgbClr val="33365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>
              <a:lnSpc>
                <a:spcPts val="6805"/>
              </a:lnSpc>
            </a:pPr>
            <a:r>
              <a:rPr lang="en-US" sz="332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7.Database Layer</a:t>
            </a:r>
            <a:endParaRPr lang="en-US" sz="3320">
              <a:solidFill>
                <a:srgbClr val="33365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>
              <a:lnSpc>
                <a:spcPts val="3835"/>
              </a:lnSpc>
            </a:pPr>
          </a:p>
        </p:txBody>
      </p:sp>
      <p:sp>
        <p:nvSpPr>
          <p:cNvPr id="11" name="TextBox 11"/>
          <p:cNvSpPr txBox="1"/>
          <p:nvPr/>
        </p:nvSpPr>
        <p:spPr>
          <a:xfrm>
            <a:off x="1833108" y="721351"/>
            <a:ext cx="6749485" cy="1363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35"/>
              </a:lnSpc>
            </a:pPr>
            <a:r>
              <a:rPr lang="en-US" sz="6165" b="1">
                <a:solidFill>
                  <a:srgbClr val="333652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METHODOLOGY:</a:t>
            </a:r>
            <a:endParaRPr lang="en-US" sz="6165" b="1">
              <a:solidFill>
                <a:srgbClr val="333652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5015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15213844" y="581674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7259300" y="-145966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2532104">
            <a:off x="3044037" y="-5367356"/>
            <a:ext cx="12120557" cy="21021712"/>
            <a:chOff x="0" y="0"/>
            <a:chExt cx="3192245" cy="553658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92245" cy="5536583"/>
            </a:xfrm>
            <a:custGeom>
              <a:avLst/>
              <a:gdLst/>
              <a:ahLst/>
              <a:cxnLst/>
              <a:rect l="l" t="t" r="r" b="b"/>
              <a:pathLst>
                <a:path w="3192245" h="5536583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7" name="Freeform 7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-2402227" y="7561070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344305" y="2392003"/>
          <a:ext cx="15520022" cy="6502332"/>
        </p:xfrm>
        <a:graphic>
          <a:graphicData uri="http://schemas.openxmlformats.org/drawingml/2006/table">
            <a:tbl>
              <a:tblPr/>
              <a:tblGrid>
                <a:gridCol w="7067259"/>
                <a:gridCol w="8452763"/>
              </a:tblGrid>
              <a:tr h="1574094">
                <a:tc>
                  <a:txBody>
                    <a:bodyPr rtlCol="0"/>
                    <a:lstStyle/>
                    <a:p>
                      <a:pPr algn="ctr">
                        <a:lnSpc>
                          <a:spcPts val="392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000000"/>
                          </a:solidFill>
                          <a:latin typeface="Open Sans Bold" panose="020B0806030504020204"/>
                          <a:ea typeface="Open Sans Bold" panose="020B0806030504020204"/>
                          <a:cs typeface="Open Sans Bold" panose="020B0806030504020204"/>
                          <a:sym typeface="Open Sans Bold" panose="020B0806030504020204"/>
                        </a:rPr>
                        <a:t>Languages</a:t>
                      </a:r>
                      <a:endParaRPr lang="en-US" sz="1100"/>
                    </a:p>
                  </a:txBody>
                  <a:tcPr marL="190500" marR="190500" marT="190500" marB="19050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Open Sans" panose="020B0606030504020204"/>
                          <a:ea typeface="Open Sans" panose="020B0606030504020204"/>
                          <a:cs typeface="Open Sans" panose="020B0606030504020204"/>
                          <a:sym typeface="Open Sans" panose="020B0606030504020204"/>
                        </a:rPr>
                        <a:t>Python, HTML, CSS</a:t>
                      </a:r>
                      <a:endParaRPr lang="en-US" sz="1100"/>
                    </a:p>
                  </a:txBody>
                  <a:tcPr marL="190500" marR="190500" marT="190500" marB="19050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4094">
                <a:tc>
                  <a:txBody>
                    <a:bodyPr rtlCol="0"/>
                    <a:lstStyle/>
                    <a:p>
                      <a:pPr algn="ctr">
                        <a:lnSpc>
                          <a:spcPts val="392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000000"/>
                          </a:solidFill>
                          <a:latin typeface="Open Sans Bold" panose="020B0806030504020204"/>
                          <a:ea typeface="Open Sans Bold" panose="020B0806030504020204"/>
                          <a:cs typeface="Open Sans Bold" panose="020B0806030504020204"/>
                          <a:sym typeface="Open Sans Bold" panose="020B0806030504020204"/>
                        </a:rPr>
                        <a:t>Framework</a:t>
                      </a:r>
                      <a:endParaRPr lang="en-US" sz="1100"/>
                    </a:p>
                  </a:txBody>
                  <a:tcPr marL="190500" marR="190500" marT="190500" marB="19050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Open Sans" panose="020B0606030504020204"/>
                          <a:ea typeface="Open Sans" panose="020B0606030504020204"/>
                          <a:cs typeface="Open Sans" panose="020B0606030504020204"/>
                          <a:sym typeface="Open Sans" panose="020B0606030504020204"/>
                        </a:rPr>
                        <a:t>Flask</a:t>
                      </a:r>
                      <a:endParaRPr lang="en-US" sz="1100"/>
                    </a:p>
                  </a:txBody>
                  <a:tcPr marL="190500" marR="190500" marT="190500" marB="19050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4094">
                <a:tc>
                  <a:txBody>
                    <a:bodyPr rtlCol="0"/>
                    <a:lstStyle/>
                    <a:p>
                      <a:pPr algn="ctr">
                        <a:lnSpc>
                          <a:spcPts val="392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000000"/>
                          </a:solidFill>
                          <a:latin typeface="Open Sans Bold" panose="020B0806030504020204"/>
                          <a:ea typeface="Open Sans Bold" panose="020B0806030504020204"/>
                          <a:cs typeface="Open Sans Bold" panose="020B0806030504020204"/>
                          <a:sym typeface="Open Sans Bold" panose="020B0806030504020204"/>
                        </a:rPr>
                        <a:t>Database</a:t>
                      </a:r>
                      <a:endParaRPr lang="en-US" sz="1100"/>
                    </a:p>
                  </a:txBody>
                  <a:tcPr marL="190500" marR="190500" marT="190500" marB="19050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Open Sans" panose="020B0606030504020204"/>
                          <a:ea typeface="Open Sans" panose="020B0606030504020204"/>
                          <a:cs typeface="Open Sans" panose="020B0606030504020204"/>
                          <a:sym typeface="Open Sans" panose="020B0606030504020204"/>
                        </a:rPr>
                        <a:t>SQLite</a:t>
                      </a:r>
                      <a:endParaRPr lang="en-US" sz="1100"/>
                    </a:p>
                  </a:txBody>
                  <a:tcPr marL="190500" marR="190500" marT="190500" marB="19050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80050">
                <a:tc>
                  <a:txBody>
                    <a:bodyPr rtlCol="0"/>
                    <a:lstStyle/>
                    <a:p>
                      <a:pPr algn="ctr">
                        <a:lnSpc>
                          <a:spcPts val="392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000000"/>
                          </a:solidFill>
                          <a:latin typeface="Open Sans Bold" panose="020B0806030504020204"/>
                          <a:ea typeface="Open Sans Bold" panose="020B0806030504020204"/>
                          <a:cs typeface="Open Sans Bold" panose="020B0806030504020204"/>
                          <a:sym typeface="Open Sans Bold" panose="020B0806030504020204"/>
                        </a:rPr>
                        <a:t>Libraries</a:t>
                      </a:r>
                      <a:endParaRPr lang="en-US" sz="1100"/>
                    </a:p>
                  </a:txBody>
                  <a:tcPr marL="190500" marR="190500" marT="190500" marB="19050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Open Sans" panose="020B0606030504020204"/>
                          <a:ea typeface="Open Sans" panose="020B0606030504020204"/>
                          <a:cs typeface="Open Sans" panose="020B0606030504020204"/>
                          <a:sym typeface="Open Sans" panose="020B0606030504020204"/>
                        </a:rPr>
                        <a:t>Pandas, OpenPyXL, python-docx</a:t>
                      </a:r>
                      <a:endParaRPr lang="en-US" sz="1100"/>
                    </a:p>
                  </a:txBody>
                  <a:tcPr marL="190500" marR="190500" marT="190500" marB="19050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2135743" y="773503"/>
            <a:ext cx="12221424" cy="161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40"/>
              </a:lnSpc>
            </a:pPr>
            <a:r>
              <a:rPr lang="en-US" sz="6920" b="1">
                <a:solidFill>
                  <a:srgbClr val="111213"/>
                </a:solidFill>
                <a:latin typeface="ITC Bauhaus Bold" panose="04020805020B02020C02"/>
                <a:ea typeface="ITC Bauhaus Bold" panose="04020805020B02020C02"/>
                <a:cs typeface="ITC Bauhaus Bold" panose="04020805020B02020C02"/>
                <a:sym typeface="ITC Bauhaus Bold" panose="04020805020B02020C02"/>
              </a:rPr>
              <a:t>TECHNOLOGIES</a:t>
            </a:r>
            <a:endParaRPr lang="en-US" sz="6920" b="1">
              <a:solidFill>
                <a:srgbClr val="111213"/>
              </a:solidFill>
              <a:latin typeface="ITC Bauhaus Bold" panose="04020805020B02020C02"/>
              <a:ea typeface="ITC Bauhaus Bold" panose="04020805020B02020C02"/>
              <a:cs typeface="ITC Bauhaus Bold" panose="04020805020B02020C02"/>
              <a:sym typeface="ITC Bauhaus Bold" panose="04020805020B02020C02"/>
            </a:endParaRPr>
          </a:p>
          <a:p>
            <a:pPr algn="ctr">
              <a:lnSpc>
                <a:spcPts val="5540"/>
              </a:lnSpc>
            </a:pPr>
          </a:p>
        </p:txBody>
      </p:sp>
      <p:sp>
        <p:nvSpPr>
          <p:cNvPr id="12" name="TextBox 12"/>
          <p:cNvSpPr txBox="1"/>
          <p:nvPr/>
        </p:nvSpPr>
        <p:spPr>
          <a:xfrm>
            <a:off x="9139238" y="4800917"/>
            <a:ext cx="9525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8835" cy="2298647"/>
            </a:xfrm>
            <a:custGeom>
              <a:avLst/>
              <a:gdLst/>
              <a:ahLst/>
              <a:cxnLst/>
              <a:rect l="l" t="t" r="r" b="b"/>
              <a:pathLst>
                <a:path w="1178835" h="2298647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78835" cy="2336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Freeform 5"/>
          <p:cNvSpPr/>
          <p:nvPr/>
        </p:nvSpPr>
        <p:spPr>
          <a:xfrm rot="-10800000" flipH="1">
            <a:off x="15213844" y="581674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17259300" y="-145966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92245" cy="5536583"/>
            </a:xfrm>
            <a:custGeom>
              <a:avLst/>
              <a:gdLst/>
              <a:ahLst/>
              <a:cxnLst/>
              <a:rect l="l" t="t" r="r" b="b"/>
              <a:pathLst>
                <a:path w="3192245" h="5536583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0800000" flipV="1">
            <a:off x="1197330" y="8783752"/>
            <a:ext cx="1876827" cy="894052"/>
          </a:xfrm>
          <a:custGeom>
            <a:avLst/>
            <a:gdLst/>
            <a:ahLst/>
            <a:cxnLst/>
            <a:rect l="l" t="t" r="r" b="b"/>
            <a:pathLst>
              <a:path w="1876827" h="894052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10800000" flipH="1" flipV="1">
            <a:off x="-2402227" y="7561070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656734" y="2234492"/>
            <a:ext cx="6349715" cy="5935580"/>
          </a:xfrm>
          <a:custGeom>
            <a:avLst/>
            <a:gdLst/>
            <a:ahLst/>
            <a:cxnLst/>
            <a:rect l="l" t="t" r="r" b="b"/>
            <a:pathLst>
              <a:path w="6349715" h="5935580">
                <a:moveTo>
                  <a:pt x="0" y="0"/>
                </a:moveTo>
                <a:lnTo>
                  <a:pt x="6349715" y="0"/>
                </a:lnTo>
                <a:lnTo>
                  <a:pt x="6349715" y="5935580"/>
                </a:lnTo>
                <a:lnTo>
                  <a:pt x="0" y="59355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118" b="-4302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197330" y="1246923"/>
            <a:ext cx="12225578" cy="883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60"/>
              </a:lnSpc>
            </a:pPr>
            <a:r>
              <a:rPr lang="en-US" sz="7450" b="1">
                <a:solidFill>
                  <a:srgbClr val="111213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RESULTS</a:t>
            </a:r>
            <a:endParaRPr lang="en-US" sz="7450" b="1">
              <a:solidFill>
                <a:srgbClr val="111213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5621" y="2761105"/>
            <a:ext cx="11403211" cy="4799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0" lvl="1" indent="-367030" algn="l">
              <a:lnSpc>
                <a:spcPts val="4760"/>
              </a:lnSpc>
              <a:buFont typeface="Arial" panose="020B0604020202020204"/>
              <a:buChar char="•"/>
            </a:pPr>
            <a:r>
              <a:rPr lang="en-US" sz="3400">
                <a:solidFill>
                  <a:srgbClr val="11121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Successfully uploaded and processed Excel input files</a:t>
            </a:r>
            <a:endParaRPr lang="en-US" sz="3400">
              <a:solidFill>
                <a:srgbClr val="11121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lnSpc>
                <a:spcPts val="4760"/>
              </a:lnSpc>
            </a:pPr>
          </a:p>
          <a:p>
            <a:pPr marL="734060" lvl="1" indent="-367030" algn="l">
              <a:lnSpc>
                <a:spcPts val="4760"/>
              </a:lnSpc>
              <a:buFont typeface="Arial" panose="020B0604020202020204"/>
              <a:buChar char="•"/>
            </a:pPr>
            <a:r>
              <a:rPr lang="en-US" sz="3400">
                <a:solidFill>
                  <a:srgbClr val="11121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Converted input documents into a structured Bridge Template</a:t>
            </a:r>
            <a:endParaRPr lang="en-US" sz="3400">
              <a:solidFill>
                <a:srgbClr val="11121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lnSpc>
                <a:spcPts val="4760"/>
              </a:lnSpc>
            </a:pPr>
          </a:p>
          <a:p>
            <a:pPr marL="734060" lvl="1" indent="-367030" algn="l">
              <a:lnSpc>
                <a:spcPts val="4760"/>
              </a:lnSpc>
              <a:buFont typeface="Arial" panose="020B0604020202020204"/>
              <a:buChar char="•"/>
            </a:pPr>
            <a:r>
              <a:rPr lang="en-US" sz="3400">
                <a:solidFill>
                  <a:srgbClr val="11121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Generated IQAC formatted Excel output automatically</a:t>
            </a:r>
            <a:endParaRPr lang="en-US" sz="3400">
              <a:solidFill>
                <a:srgbClr val="11121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lnSpc>
                <a:spcPts val="4760"/>
              </a:lnSpc>
            </a:pPr>
          </a:p>
          <a:p>
            <a:pPr marL="734060" lvl="1" indent="-367030" algn="l">
              <a:lnSpc>
                <a:spcPts val="4760"/>
              </a:lnSpc>
              <a:buFont typeface="Arial" panose="020B0604020202020204"/>
              <a:buChar char="•"/>
            </a:pPr>
            <a:r>
              <a:rPr lang="en-US" sz="3400">
                <a:solidFill>
                  <a:srgbClr val="11121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Ensured accurate CO &amp; Bloom’s Level mapping</a:t>
            </a:r>
            <a:endParaRPr lang="en-US" sz="3400">
              <a:solidFill>
                <a:srgbClr val="11121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lnSpc>
                <a:spcPts val="476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7259300" y="-145966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2532104">
            <a:off x="3087448" y="-5168804"/>
            <a:ext cx="12120557" cy="21021712"/>
            <a:chOff x="0" y="0"/>
            <a:chExt cx="3192245" cy="553658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192245" cy="5536583"/>
            </a:xfrm>
            <a:custGeom>
              <a:avLst/>
              <a:gdLst/>
              <a:ahLst/>
              <a:cxnLst/>
              <a:rect l="l" t="t" r="r" b="b"/>
              <a:pathLst>
                <a:path w="3192245" h="5536583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0" y="-27522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6152257" y="8174556"/>
            <a:ext cx="2135743" cy="2112444"/>
          </a:xfrm>
          <a:custGeom>
            <a:avLst/>
            <a:gdLst/>
            <a:ahLst/>
            <a:cxnLst/>
            <a:rect l="l" t="t" r="r" b="b"/>
            <a:pathLst>
              <a:path w="2135743" h="2112444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H="1" flipV="1">
            <a:off x="-2402227" y="7561070"/>
            <a:ext cx="3394970" cy="3339416"/>
          </a:xfrm>
          <a:custGeom>
            <a:avLst/>
            <a:gdLst/>
            <a:ahLst/>
            <a:cxnLst/>
            <a:rect l="l" t="t" r="r" b="b"/>
            <a:pathLst>
              <a:path w="3394970" h="3339416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163309" y="1451378"/>
            <a:ext cx="7750505" cy="7384245"/>
          </a:xfrm>
          <a:custGeom>
            <a:avLst/>
            <a:gdLst/>
            <a:ahLst/>
            <a:cxnLst/>
            <a:rect l="l" t="t" r="r" b="b"/>
            <a:pathLst>
              <a:path w="7750505" h="7384245">
                <a:moveTo>
                  <a:pt x="0" y="0"/>
                </a:moveTo>
                <a:lnTo>
                  <a:pt x="7750505" y="0"/>
                </a:lnTo>
                <a:lnTo>
                  <a:pt x="7750505" y="7384244"/>
                </a:lnTo>
                <a:lnTo>
                  <a:pt x="0" y="73842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958" r="-630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39387" y="788407"/>
            <a:ext cx="10527289" cy="171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70"/>
              </a:lnSpc>
            </a:pPr>
            <a:r>
              <a:rPr lang="en-US" sz="7710" b="1">
                <a:solidFill>
                  <a:srgbClr val="333652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RESULTS:</a:t>
            </a:r>
            <a:endParaRPr lang="en-US" sz="7710" b="1">
              <a:solidFill>
                <a:srgbClr val="333652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6250"/>
              </a:lnSpc>
            </a:pPr>
          </a:p>
        </p:txBody>
      </p:sp>
      <p:sp>
        <p:nvSpPr>
          <p:cNvPr id="11" name="TextBox 11"/>
          <p:cNvSpPr txBox="1"/>
          <p:nvPr/>
        </p:nvSpPr>
        <p:spPr>
          <a:xfrm>
            <a:off x="407746" y="1914889"/>
            <a:ext cx="10302965" cy="8901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5"/>
              </a:lnSpc>
            </a:pPr>
            <a:r>
              <a:rPr lang="en-US" sz="2380" b="1">
                <a:solidFill>
                  <a:srgbClr val="F5960E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Performance</a:t>
            </a:r>
            <a:endParaRPr lang="en-US" sz="2380" b="1">
              <a:solidFill>
                <a:srgbClr val="F5960E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28015" lvl="1" indent="-314325" algn="l">
              <a:lnSpc>
                <a:spcPts val="5265"/>
              </a:lnSpc>
              <a:buFont typeface="Arial" panose="020B0604020202020204"/>
              <a:buChar char="•"/>
            </a:pPr>
            <a:r>
              <a:rPr lang="en-US" sz="291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Reduced</a:t>
            </a:r>
            <a:r>
              <a:rPr lang="en-US" sz="291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manual effort involved in document formatting </a:t>
            </a:r>
            <a:endParaRPr lang="en-US" sz="2910">
              <a:solidFill>
                <a:srgbClr val="33365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5265"/>
              </a:lnSpc>
            </a:pPr>
            <a:r>
              <a:rPr lang="en-US" sz="291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</a:t>
            </a:r>
            <a:r>
              <a:rPr lang="en-US" sz="291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and organization.</a:t>
            </a:r>
            <a:endParaRPr lang="en-US" sz="2910">
              <a:solidFill>
                <a:srgbClr val="33365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28015" lvl="1" indent="-314325" algn="l">
              <a:lnSpc>
                <a:spcPts val="5265"/>
              </a:lnSpc>
              <a:buFont typeface="Arial" panose="020B0604020202020204"/>
              <a:buChar char="•"/>
            </a:pPr>
            <a:r>
              <a:rPr lang="en-US" sz="291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Improved consistency and uniformity in document structure.</a:t>
            </a:r>
            <a:endParaRPr lang="en-US" sz="2910">
              <a:solidFill>
                <a:srgbClr val="33365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28015" lvl="1" indent="-314325" algn="l">
              <a:lnSpc>
                <a:spcPts val="5265"/>
              </a:lnSpc>
              <a:buFont typeface="Arial" panose="020B0604020202020204"/>
              <a:buChar char="•"/>
            </a:pPr>
            <a:r>
              <a:rPr lang="en-US" sz="291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</a:t>
            </a:r>
            <a:r>
              <a:rPr lang="en-US" sz="291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inimized human errors during data extraction and </a:t>
            </a:r>
            <a:endParaRPr lang="en-US" sz="2910">
              <a:solidFill>
                <a:srgbClr val="33365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5265"/>
              </a:lnSpc>
            </a:pPr>
            <a:r>
              <a:rPr lang="en-US" sz="291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</a:t>
            </a:r>
            <a:r>
              <a:rPr lang="en-US" sz="291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processing</a:t>
            </a:r>
            <a:r>
              <a:rPr lang="en-US" sz="291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endParaRPr lang="en-US" sz="2910">
              <a:solidFill>
                <a:srgbClr val="33365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4075"/>
              </a:lnSpc>
            </a:pPr>
            <a:r>
              <a:rPr lang="en-US" sz="2910" b="1">
                <a:solidFill>
                  <a:srgbClr val="F5960E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Observations</a:t>
            </a:r>
            <a:endParaRPr lang="en-US" sz="2910" b="1">
              <a:solidFill>
                <a:srgbClr val="F5960E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28015" lvl="1" indent="-314325" algn="l">
              <a:lnSpc>
                <a:spcPts val="5035"/>
              </a:lnSpc>
              <a:buFont typeface="Arial" panose="020B0604020202020204"/>
              <a:buChar char="•"/>
            </a:pPr>
            <a:r>
              <a:rPr lang="en-US" sz="291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system successfully processed documents using</a:t>
            </a:r>
            <a:endParaRPr lang="en-US" sz="2910">
              <a:solidFill>
                <a:srgbClr val="33365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5035"/>
              </a:lnSpc>
            </a:pPr>
            <a:r>
              <a:rPr lang="en-US" sz="291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</a:t>
            </a:r>
            <a:r>
              <a:rPr lang="en-US" sz="291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predefined templates and rules.</a:t>
            </a:r>
            <a:endParaRPr lang="en-US" sz="2910">
              <a:solidFill>
                <a:srgbClr val="33365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28015" lvl="1" indent="-314325" algn="l">
              <a:lnSpc>
                <a:spcPts val="5035"/>
              </a:lnSpc>
              <a:buFont typeface="Arial" panose="020B0604020202020204"/>
              <a:buChar char="•"/>
            </a:pPr>
            <a:r>
              <a:rPr lang="en-US" sz="291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Structur</a:t>
            </a:r>
            <a:r>
              <a:rPr lang="en-US" sz="291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ed outputs were generated accurately from </a:t>
            </a:r>
            <a:endParaRPr lang="en-US" sz="2910">
              <a:solidFill>
                <a:srgbClr val="33365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5035"/>
              </a:lnSpc>
            </a:pPr>
            <a:r>
              <a:rPr lang="en-US" sz="291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</a:t>
            </a:r>
            <a:r>
              <a:rPr lang="en-US" sz="291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input documents.</a:t>
            </a:r>
            <a:endParaRPr lang="en-US" sz="2910">
              <a:solidFill>
                <a:srgbClr val="33365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28015" lvl="1" indent="-314325" algn="l">
              <a:lnSpc>
                <a:spcPts val="5035"/>
              </a:lnSpc>
              <a:buFont typeface="Arial" panose="020B0604020202020204"/>
              <a:buChar char="•"/>
            </a:pPr>
            <a:r>
              <a:rPr lang="en-US" sz="291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Processed data was stored in the database for future retrieval and </a:t>
            </a:r>
            <a:endParaRPr lang="en-US" sz="2910">
              <a:solidFill>
                <a:srgbClr val="33365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5035"/>
              </a:lnSpc>
            </a:pPr>
            <a:r>
              <a:rPr lang="en-US" sz="291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</a:t>
            </a:r>
            <a:r>
              <a:rPr lang="en-US" sz="2910">
                <a:solidFill>
                  <a:srgbClr val="3336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management.</a:t>
            </a:r>
            <a:endParaRPr lang="en-US" sz="2910">
              <a:solidFill>
                <a:srgbClr val="33365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3335"/>
              </a:lnSpc>
            </a:pPr>
          </a:p>
          <a:p>
            <a:pPr algn="ctr">
              <a:lnSpc>
                <a:spcPts val="3335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27522"/>
            <a:ext cx="3953882" cy="3910749"/>
          </a:xfrm>
          <a:custGeom>
            <a:avLst/>
            <a:gdLst/>
            <a:ahLst/>
            <a:cxnLst/>
            <a:rect l="l" t="t" r="r" b="b"/>
            <a:pathLst>
              <a:path w="3953882" h="3910749">
                <a:moveTo>
                  <a:pt x="3953882" y="0"/>
                </a:moveTo>
                <a:lnTo>
                  <a:pt x="0" y="0"/>
                </a:lnTo>
                <a:lnTo>
                  <a:pt x="0" y="3910749"/>
                </a:lnTo>
                <a:lnTo>
                  <a:pt x="3953882" y="3910749"/>
                </a:lnTo>
                <a:lnTo>
                  <a:pt x="3953882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 flipV="1">
            <a:off x="1028700" y="8570905"/>
            <a:ext cx="2886010" cy="1374790"/>
          </a:xfrm>
          <a:custGeom>
            <a:avLst/>
            <a:gdLst/>
            <a:ahLst/>
            <a:cxnLst/>
            <a:rect l="l" t="t" r="r" b="b"/>
            <a:pathLst>
              <a:path w="2886010" h="1374790">
                <a:moveTo>
                  <a:pt x="0" y="1374790"/>
                </a:moveTo>
                <a:lnTo>
                  <a:pt x="2886010" y="1374790"/>
                </a:lnTo>
                <a:lnTo>
                  <a:pt x="2886010" y="0"/>
                </a:lnTo>
                <a:lnTo>
                  <a:pt x="0" y="0"/>
                </a:lnTo>
                <a:lnTo>
                  <a:pt x="0" y="137479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 flipH="1" flipV="1">
            <a:off x="14373290" y="341305"/>
            <a:ext cx="2886010" cy="1374790"/>
          </a:xfrm>
          <a:custGeom>
            <a:avLst/>
            <a:gdLst/>
            <a:ahLst/>
            <a:cxnLst/>
            <a:rect l="l" t="t" r="r" b="b"/>
            <a:pathLst>
              <a:path w="2886010" h="1374790">
                <a:moveTo>
                  <a:pt x="2886010" y="1374790"/>
                </a:moveTo>
                <a:lnTo>
                  <a:pt x="0" y="1374790"/>
                </a:lnTo>
                <a:lnTo>
                  <a:pt x="0" y="0"/>
                </a:lnTo>
                <a:lnTo>
                  <a:pt x="2886010" y="0"/>
                </a:lnTo>
                <a:lnTo>
                  <a:pt x="2886010" y="137479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14373290" y="6376251"/>
            <a:ext cx="3953882" cy="3910749"/>
          </a:xfrm>
          <a:custGeom>
            <a:avLst/>
            <a:gdLst/>
            <a:ahLst/>
            <a:cxnLst/>
            <a:rect l="l" t="t" r="r" b="b"/>
            <a:pathLst>
              <a:path w="3953882" h="3910749">
                <a:moveTo>
                  <a:pt x="0" y="3910749"/>
                </a:moveTo>
                <a:lnTo>
                  <a:pt x="3953881" y="3910749"/>
                </a:lnTo>
                <a:lnTo>
                  <a:pt x="3953881" y="0"/>
                </a:lnTo>
                <a:lnTo>
                  <a:pt x="0" y="0"/>
                </a:lnTo>
                <a:lnTo>
                  <a:pt x="0" y="3910749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909431" y="597886"/>
            <a:ext cx="11463858" cy="1240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40"/>
              </a:lnSpc>
            </a:pPr>
            <a:r>
              <a:rPr lang="en-US" sz="703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REFERENCES</a:t>
            </a:r>
            <a:endParaRPr lang="en-US" sz="703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2810144"/>
            <a:ext cx="16902946" cy="625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6600"/>
              </a:lnSpc>
              <a:buFont typeface="Arial" panose="020B0604020202020204"/>
              <a:buChar char="•"/>
            </a:pPr>
            <a:r>
              <a:rPr lang="en-US" sz="33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Katti H., Arun P., Automated Document Processing Using Machine Learning Techniques, 2018.</a:t>
            </a:r>
            <a:endParaRPr lang="en-US" sz="33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12470" lvl="1" indent="-356235" algn="l">
              <a:lnSpc>
                <a:spcPts val="6600"/>
              </a:lnSpc>
              <a:buFont typeface="Arial" panose="020B0604020202020204"/>
              <a:buChar char="•"/>
            </a:pPr>
            <a:r>
              <a:rPr lang="en-US" sz="33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Smith J., Data Extraction from Semi-Structured Documents Using Pattern Matching, 2019.</a:t>
            </a:r>
            <a:endParaRPr lang="en-US" sz="33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12470" lvl="1" indent="-356235" algn="l">
              <a:lnSpc>
                <a:spcPts val="6600"/>
              </a:lnSpc>
              <a:buFont typeface="Arial" panose="020B0604020202020204"/>
              <a:buChar char="•"/>
            </a:pPr>
            <a:r>
              <a:rPr lang="en-US" sz="33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Python Software Foundation, Python Documentation.</a:t>
            </a:r>
            <a:endParaRPr lang="en-US" sz="33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12470" lvl="1" indent="-356235" algn="l">
              <a:lnSpc>
                <a:spcPts val="6600"/>
              </a:lnSpc>
              <a:buFont typeface="Arial" panose="020B0604020202020204"/>
              <a:buChar char="•"/>
            </a:pPr>
            <a:r>
              <a:rPr lang="en-US" sz="33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Flask Documentation, Flask Web Framework.</a:t>
            </a:r>
            <a:endParaRPr lang="en-US" sz="33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12470" lvl="1" indent="-356235" algn="l">
              <a:lnSpc>
                <a:spcPts val="6600"/>
              </a:lnSpc>
              <a:buFont typeface="Arial" panose="020B0604020202020204"/>
              <a:buChar char="•"/>
            </a:pPr>
            <a:r>
              <a:rPr lang="en-US" sz="33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Pandas Documentation, Data Analysis Library for Python.</a:t>
            </a:r>
            <a:endParaRPr lang="en-US" sz="33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12470" lvl="1" indent="-356235" algn="l">
              <a:lnSpc>
                <a:spcPts val="6600"/>
              </a:lnSpc>
              <a:buFont typeface="Arial" panose="020B0604020202020204"/>
              <a:buChar char="•"/>
            </a:pPr>
            <a:r>
              <a:rPr lang="en-US" sz="33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OpenPyXL Documentation, Excel Processing Library for Python.</a:t>
            </a:r>
            <a:endParaRPr lang="en-US" sz="33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4620"/>
              </a:lnSpc>
            </a:pPr>
          </a:p>
          <a:p>
            <a:pPr algn="ctr">
              <a:lnSpc>
                <a:spcPts val="462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74190" y="3312129"/>
            <a:ext cx="9666804" cy="283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95"/>
              </a:lnSpc>
            </a:pPr>
            <a:r>
              <a:rPr lang="en-US" sz="1614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Thank You</a:t>
            </a:r>
            <a:endParaRPr lang="en-US" sz="1614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3699</Words>
  <Application>WPS Presentation</Application>
  <PresentationFormat>On-screen Show (4:3)</PresentationFormat>
  <Paragraphs>161</Paragraphs>
  <Slides>14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SimSun</vt:lpstr>
      <vt:lpstr>Wingdings</vt:lpstr>
      <vt:lpstr>Times New Roman Bold</vt:lpstr>
      <vt:lpstr>Times New Roman</vt:lpstr>
      <vt:lpstr>Arial</vt:lpstr>
      <vt:lpstr>Open Sans Bold</vt:lpstr>
      <vt:lpstr>Open Sans</vt:lpstr>
      <vt:lpstr>ITC Bauhaus Bold</vt:lpstr>
      <vt:lpstr>Calibri</vt:lpstr>
      <vt:lpstr>Microsoft YaHei</vt:lpstr>
      <vt:lpstr>Arial Unicode MS</vt:lpstr>
      <vt:lpstr>Office Theme</vt:lpstr>
      <vt:lpstr>Excel.Sheet.12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Blue Simple Geometric Research Project Presentation</dc:title>
  <dc:creator/>
  <cp:lastModifiedBy>S Pavani</cp:lastModifiedBy>
  <cp:revision>4</cp:revision>
  <dcterms:created xsi:type="dcterms:W3CDTF">2006-08-16T00:00:00Z</dcterms:created>
  <dcterms:modified xsi:type="dcterms:W3CDTF">2026-06-11T16:12:46Z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A7B98F64BEA14C31B0225CA1669E6C49_12</vt:lpwstr>
  </property>
  <property fmtid="{D5CDD505-2E9C-101B-9397-08002B2CF9AE}" pid="3" name="KSOProductBuildVer">
    <vt:lpwstr>1033-12.1.0.26372</vt:lpwstr>
  </property>
</Properties>
</file>